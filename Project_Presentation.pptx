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Source Sans 3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ora" panose="020B0604020202020204" charset="0"/>
      <p:regular r:id="rId18"/>
    </p:embeddedFont>
    <p:embeddedFont>
      <p:font typeface="Source Sans 3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0896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-2-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3.svg"/><Relationship Id="rId5" Type="http://schemas.openxmlformats.org/officeDocument/2006/relationships/image" Target="../media/image-2-3.svg"/><Relationship Id="rId4" Type="http://schemas.openxmlformats.org/officeDocument/2006/relationships/image" Target="../media/image3.png"/><Relationship Id="rId9" Type="http://schemas.openxmlformats.org/officeDocument/2006/relationships/image" Target="../media/image-2-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6-6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4.svg"/><Relationship Id="rId5" Type="http://schemas.openxmlformats.org/officeDocument/2006/relationships/image" Target="../media/image8.png"/><Relationship Id="rId4" Type="http://schemas.openxmlformats.org/officeDocument/2006/relationships/image" Target="../media/image-6-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7.svg"/><Relationship Id="rId3" Type="http://schemas.openxmlformats.org/officeDocument/2006/relationships/image" Target="../media/image10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3.svg"/><Relationship Id="rId5" Type="http://schemas.openxmlformats.org/officeDocument/2006/relationships/image" Target="../media/image-7-3.svg"/><Relationship Id="rId4" Type="http://schemas.openxmlformats.org/officeDocument/2006/relationships/image" Target="../media/image11.png"/><Relationship Id="rId9" Type="http://schemas.openxmlformats.org/officeDocument/2006/relationships/image" Target="../media/image-7-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6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12" Type="http://schemas.openxmlformats.org/officeDocument/2006/relationships/image" Target="../media/image-8-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4.svg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image" Target="../media/image-8-8.svg"/><Relationship Id="rId4" Type="http://schemas.openxmlformats.org/officeDocument/2006/relationships/image" Target="../media/image-8-2.sv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55468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Renovia Hospital OS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440509"/>
            <a:ext cx="6223638" cy="86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 Operating System for Modern Healthcare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Muhammad Umar · Muhammad Ali Hadi · Raghib Rizwan Rabbani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288951"/>
            <a:ext cx="6223638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Healthcare Is Fragmented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69971" y="1897261"/>
            <a:ext cx="6223638" cy="8338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14738" y="2065834"/>
            <a:ext cx="5810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40%+ Time Lost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514738" y="2353072"/>
            <a:ext cx="581030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Doctors spend the majority of their day on paperwork instead of patient care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269971" y="2843213"/>
            <a:ext cx="6223638" cy="83383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514738" y="3011785"/>
            <a:ext cx="5810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Siloed Systems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514738" y="3299023"/>
            <a:ext cx="581030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EHR, billing, pharmacy, and lab operate in isolation — none talking to each other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269971" y="3789164"/>
            <a:ext cx="6223638" cy="83383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14738" y="3957737"/>
            <a:ext cx="5810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Communication Breakdowns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5514738" y="4244975"/>
            <a:ext cx="581030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Gaps between departments lead to medical errors, delays, and poor outcomes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269971" y="4735116"/>
            <a:ext cx="6223638" cy="83383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14738" y="4903688"/>
            <a:ext cx="5810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 Overload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5514738" y="5190927"/>
            <a:ext cx="5810303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Hospital staff juggle 4–5 different software tools daily with no unified view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474788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One Hospital. One Operating System.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98086" y="2139156"/>
            <a:ext cx="1140510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Renovia unifies every hospital department into a single, real-time workflow.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689" y="2601020"/>
            <a:ext cx="2655920" cy="26559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10580" y="2712938"/>
            <a:ext cx="2221651" cy="1479451"/>
          </a:xfrm>
          <a:prstGeom prst="roundRect">
            <a:avLst>
              <a:gd name="adj" fmla="val 1517"/>
            </a:avLst>
          </a:prstGeom>
          <a:solidFill>
            <a:srgbClr val="F3E7D4"/>
          </a:solidFill>
          <a:ln/>
        </p:spPr>
      </p:sp>
      <p:sp>
        <p:nvSpPr>
          <p:cNvPr id="6" name="Text 3"/>
          <p:cNvSpPr/>
          <p:nvPr/>
        </p:nvSpPr>
        <p:spPr>
          <a:xfrm>
            <a:off x="4760099" y="2862461"/>
            <a:ext cx="1922613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25 Operational Domains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60099" y="3414514"/>
            <a:ext cx="192261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Connected seamlessly across every department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44345" y="2712938"/>
            <a:ext cx="2221651" cy="1479451"/>
          </a:xfrm>
          <a:prstGeom prst="roundRect">
            <a:avLst>
              <a:gd name="adj" fmla="val 1517"/>
            </a:avLst>
          </a:prstGeom>
          <a:solidFill>
            <a:srgbClr val="F3E7D4"/>
          </a:solidFill>
          <a:ln/>
        </p:spPr>
      </p:sp>
      <p:sp>
        <p:nvSpPr>
          <p:cNvPr id="9" name="Text 6"/>
          <p:cNvSpPr/>
          <p:nvPr/>
        </p:nvSpPr>
        <p:spPr>
          <a:xfrm>
            <a:off x="7093864" y="2862461"/>
            <a:ext cx="1922613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Centralized Patient Data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093864" y="3414514"/>
            <a:ext cx="192261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Clinical information unified in one source of truth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278110" y="2712938"/>
            <a:ext cx="2221750" cy="1479451"/>
          </a:xfrm>
          <a:prstGeom prst="roundRect">
            <a:avLst>
              <a:gd name="adj" fmla="val 1517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9427629" y="2862461"/>
            <a:ext cx="192271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Coordination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427629" y="3414514"/>
            <a:ext cx="1922712" cy="628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sync across Patients · Doctors · Nursing · Lab · Pharmacy · Billing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10580" y="4304506"/>
            <a:ext cx="6889280" cy="840581"/>
          </a:xfrm>
          <a:prstGeom prst="roundRect">
            <a:avLst>
              <a:gd name="adj" fmla="val 2670"/>
            </a:avLst>
          </a:prstGeom>
          <a:solidFill>
            <a:srgbClr val="F3E7D4"/>
          </a:solidFill>
          <a:ln/>
        </p:spPr>
      </p:sp>
      <p:sp>
        <p:nvSpPr>
          <p:cNvPr id="15" name="Text 12"/>
          <p:cNvSpPr/>
          <p:nvPr/>
        </p:nvSpPr>
        <p:spPr>
          <a:xfrm>
            <a:off x="4760099" y="4454029"/>
            <a:ext cx="659024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at Every Step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760099" y="4786114"/>
            <a:ext cx="6590242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Integrated intelligence embedded throughout the workflow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8502"/>
            <a:ext cx="10795524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Registration to Discharge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98086" y="1150342"/>
            <a:ext cx="11405108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complete patient journey — in one platform: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441450"/>
            <a:ext cx="10795524" cy="4858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24272" y="1688310"/>
            <a:ext cx="188919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Registration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24272" y="2045949"/>
            <a:ext cx="1889194" cy="394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Smart intake with AI triage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92705" y="5430460"/>
            <a:ext cx="189957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Vitals &amp; Queue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92705" y="5788099"/>
            <a:ext cx="1899574" cy="197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prioritization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40378" y="1651978"/>
            <a:ext cx="188919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Doctor Consult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040378" y="2009617"/>
            <a:ext cx="1889194" cy="394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AI-assisted notes &amp; diagnosis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08812" y="5331845"/>
            <a:ext cx="1889193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Labs &amp; Pharmacy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908812" y="5689485"/>
            <a:ext cx="1889193" cy="394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orders and fulfillment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91680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Rizocare AI — Intelligence Inside the Workflow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13" y="2666405"/>
            <a:ext cx="4828459" cy="2082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608" y="4357777"/>
            <a:ext cx="1030912" cy="128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Vector Retrieval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2057608" y="3875780"/>
            <a:ext cx="1030912" cy="128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LLM Reasoning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057608" y="3398652"/>
            <a:ext cx="1030912" cy="128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Speech-to-Text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057608" y="2916656"/>
            <a:ext cx="1030912" cy="128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 Input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42957" y="2346523"/>
            <a:ext cx="355690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Capabilities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42957" y="2649637"/>
            <a:ext cx="3556903" cy="2482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Clinical AI Assistant</a:t>
            </a: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Diagnostic suggestions &amp; drug interactions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Voice Clinical Notes</a:t>
            </a: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Hands-free dictation for doctors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 Receptionist &amp; Triage</a:t>
            </a: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Automated patient intake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Lab Report Interpreter</a:t>
            </a: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Complex results in plain language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Discharge Summarizer</a:t>
            </a: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Complete discharge papers in one click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Prescription Draft Assistance</a:t>
            </a: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Smart dosage and precaution suggestions</a:t>
            </a:r>
            <a:endParaRPr lang="en-US" sz="1050" dirty="0"/>
          </a:p>
          <a:p>
            <a:pPr marL="213360" indent="-213360" algn="l">
              <a:lnSpc>
                <a:spcPct val="113000"/>
              </a:lnSpc>
              <a:buSzPct val="100000"/>
              <a:buChar char="•"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RAG Knowledge Assistant</a:t>
            </a: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Hospital guidelines and medical references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08683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Everything the Hospital Needs — In One Platform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2059880"/>
            <a:ext cx="1140510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25 operational domains across clinical, operations, and administration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8086" y="2514402"/>
            <a:ext cx="3490825" cy="2680395"/>
          </a:xfrm>
          <a:prstGeom prst="roundRect">
            <a:avLst>
              <a:gd name="adj" fmla="val 1005"/>
            </a:avLst>
          </a:prstGeom>
          <a:solidFill>
            <a:srgbClr val="F3E7D4"/>
          </a:solidFill>
          <a:ln/>
        </p:spPr>
      </p:sp>
      <p:sp>
        <p:nvSpPr>
          <p:cNvPr id="5" name="Shape 3"/>
          <p:cNvSpPr/>
          <p:nvPr/>
        </p:nvSpPr>
        <p:spPr>
          <a:xfrm>
            <a:off x="877568" y="2693888"/>
            <a:ext cx="538546" cy="538559"/>
          </a:xfrm>
          <a:prstGeom prst="ellipse">
            <a:avLst/>
          </a:prstGeom>
          <a:solidFill>
            <a:srgbClr val="38512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25698" y="2841923"/>
            <a:ext cx="242286" cy="2422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7568" y="3393976"/>
            <a:ext cx="313186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Clinical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77568" y="3754934"/>
            <a:ext cx="3131861" cy="1260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Patient Management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Doctor &amp; Consultation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Electronic Health Records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Triage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50435" y="2514402"/>
            <a:ext cx="3490825" cy="2680395"/>
          </a:xfrm>
          <a:prstGeom prst="roundRect">
            <a:avLst>
              <a:gd name="adj" fmla="val 1005"/>
            </a:avLst>
          </a:prstGeom>
          <a:solidFill>
            <a:srgbClr val="F3E7D4"/>
          </a:solidFill>
          <a:ln/>
        </p:spPr>
      </p:sp>
      <p:sp>
        <p:nvSpPr>
          <p:cNvPr id="10" name="Shape 7"/>
          <p:cNvSpPr/>
          <p:nvPr/>
        </p:nvSpPr>
        <p:spPr>
          <a:xfrm>
            <a:off x="4529917" y="2693888"/>
            <a:ext cx="538546" cy="538559"/>
          </a:xfrm>
          <a:prstGeom prst="ellipse">
            <a:avLst/>
          </a:prstGeom>
          <a:solidFill>
            <a:srgbClr val="38512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78047" y="2841923"/>
            <a:ext cx="242286" cy="2422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9917" y="3393976"/>
            <a:ext cx="313186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529917" y="3754934"/>
            <a:ext cx="3131861" cy="1260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Departments &amp; Beds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Appointments &amp; Queues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Laboratory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Pharmacy &amp; Inventory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02784" y="2514402"/>
            <a:ext cx="3490825" cy="2680395"/>
          </a:xfrm>
          <a:prstGeom prst="roundRect">
            <a:avLst>
              <a:gd name="adj" fmla="val 1005"/>
            </a:avLst>
          </a:prstGeom>
          <a:solidFill>
            <a:srgbClr val="F3E7D4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2266" y="2693888"/>
            <a:ext cx="538546" cy="538559"/>
          </a:xfrm>
          <a:prstGeom prst="ellipse">
            <a:avLst/>
          </a:prstGeom>
          <a:solidFill>
            <a:srgbClr val="38512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330396" y="2841923"/>
            <a:ext cx="242286" cy="2422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2266" y="3393976"/>
            <a:ext cx="313186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Administration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182266" y="3754934"/>
            <a:ext cx="3131861" cy="1260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Billing &amp; Claims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Staff &amp; HR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Notifications</a:t>
            </a:r>
            <a:endParaRPr lang="en-US" sz="1400" dirty="0"/>
          </a:p>
          <a:p>
            <a:pPr marL="284480" indent="-284480" algn="l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Reports &amp; Analytics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93293" y="5376565"/>
            <a:ext cx="1140510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400" i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24 professional dashboard screens tailored to each hospital role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22933"/>
            <a:ext cx="10795524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Built for Scale and Real-Time Operations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347" y="2521645"/>
            <a:ext cx="2322256" cy="232231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593515" y="1525389"/>
            <a:ext cx="3411055" cy="10868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01810" y="1617365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742141" y="2017613"/>
            <a:ext cx="3113803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742141" y="2292449"/>
            <a:ext cx="3113803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18 · TypeScript · Vite · Tailwind CSS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88805" y="1525389"/>
            <a:ext cx="3411055" cy="10868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97100" y="1617365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237431" y="2017613"/>
            <a:ext cx="3113803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237431" y="2292449"/>
            <a:ext cx="3113803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Node.js 20 · Express 5 · Prisma ORM · PostgreSQL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593515" y="2696468"/>
            <a:ext cx="3411055" cy="12579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1810" y="2788444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4742141" y="3188692"/>
            <a:ext cx="3113803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Layer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742141" y="3463528"/>
            <a:ext cx="3113803" cy="34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Socket.IO — live bed tracking, queue updates, emergency alerts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088805" y="2696468"/>
            <a:ext cx="3411055" cy="125799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97100" y="2788444"/>
            <a:ext cx="194464" cy="2430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8237431" y="3188692"/>
            <a:ext cx="3113803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Services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8237431" y="3463528"/>
            <a:ext cx="3113803" cy="34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Groq (LLM &amp; Speech) · Google Gemini (Embeddings) · Qdrant (Vector DB)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188614" y="4114006"/>
            <a:ext cx="2210340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185</a:t>
            </a:r>
            <a:endParaRPr lang="en-US" sz="3350" dirty="0"/>
          </a:p>
        </p:txBody>
      </p:sp>
      <p:sp>
        <p:nvSpPr>
          <p:cNvPr id="21" name="Text 14"/>
          <p:cNvSpPr/>
          <p:nvPr/>
        </p:nvSpPr>
        <p:spPr>
          <a:xfrm>
            <a:off x="4593515" y="4669929"/>
            <a:ext cx="3400538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REST Endpoints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8694421" y="4114006"/>
            <a:ext cx="2210340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52</a:t>
            </a:r>
            <a:endParaRPr lang="en-US" sz="3350" dirty="0"/>
          </a:p>
        </p:txBody>
      </p:sp>
      <p:sp>
        <p:nvSpPr>
          <p:cNvPr id="23" name="Text 16"/>
          <p:cNvSpPr/>
          <p:nvPr/>
        </p:nvSpPr>
        <p:spPr>
          <a:xfrm>
            <a:off x="8099322" y="4669929"/>
            <a:ext cx="3400538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Models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941468" y="5093791"/>
            <a:ext cx="2210340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16</a:t>
            </a:r>
            <a:endParaRPr lang="en-US" sz="3350" dirty="0"/>
          </a:p>
        </p:txBody>
      </p:sp>
      <p:sp>
        <p:nvSpPr>
          <p:cNvPr id="25" name="Text 18"/>
          <p:cNvSpPr/>
          <p:nvPr/>
        </p:nvSpPr>
        <p:spPr>
          <a:xfrm>
            <a:off x="6346369" y="5649714"/>
            <a:ext cx="3400538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Endpoints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8452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Enterprise-Ready Security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98086" y="1292820"/>
            <a:ext cx="598373" cy="897632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85108" y="1629470"/>
            <a:ext cx="224328" cy="2243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08573" y="1442343"/>
            <a:ext cx="1008503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Multi-Tenant Isolation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408573" y="1729581"/>
            <a:ext cx="10085036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Strict hospital-level data separation via JWT-enforced queries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98086" y="2302570"/>
            <a:ext cx="598373" cy="897632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85108" y="2639219"/>
            <a:ext cx="224328" cy="2243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08573" y="2452092"/>
            <a:ext cx="1008503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 RBAC Roles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08573" y="2739330"/>
            <a:ext cx="10085036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 · Doctor · Nurse · Receptionist · Pharmacist · Lab Tech · Accountant · Patient · Super Admin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98086" y="3312319"/>
            <a:ext cx="598373" cy="897632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85108" y="3648968"/>
            <a:ext cx="224328" cy="2243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08573" y="3461841"/>
            <a:ext cx="1008503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JWT Authentication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408573" y="3749080"/>
            <a:ext cx="10085036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 token refresh with single-flight concurrent request handling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98086" y="4322068"/>
            <a:ext cx="598373" cy="897632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85108" y="4658717"/>
            <a:ext cx="224328" cy="2243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08573" y="4471591"/>
            <a:ext cx="1008503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Audit Logging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408573" y="4758829"/>
            <a:ext cx="10085036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Immutable tracking of all sensitive medical record access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98086" y="5331817"/>
            <a:ext cx="598373" cy="897632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5108" y="5668466"/>
            <a:ext cx="224328" cy="2243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08573" y="5481340"/>
            <a:ext cx="1008503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Bank-Grade Encryption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1408573" y="5768578"/>
            <a:ext cx="10085036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data encrypted in transit and at rest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72914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From Fragmented Workflows to Intelligent Healthcare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93293" y="1378942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scale and sophistication of Renovia at a glance: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98563" y="1748433"/>
            <a:ext cx="373559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98086" y="2352179"/>
            <a:ext cx="533664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REST Endpoints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57342" y="1748433"/>
            <a:ext cx="373569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156866" y="2352179"/>
            <a:ext cx="533674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Operational Domains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498563" y="2822773"/>
            <a:ext cx="373559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98086" y="3426520"/>
            <a:ext cx="533664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Endpoints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57342" y="2822773"/>
            <a:ext cx="373569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56866" y="3426520"/>
            <a:ext cx="533674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Models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98563" y="3897114"/>
            <a:ext cx="373559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98086" y="4500860"/>
            <a:ext cx="533664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Screens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57342" y="3897114"/>
            <a:ext cx="373569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56866" y="4500860"/>
            <a:ext cx="533674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RBAC Roles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8086" y="4816177"/>
            <a:ext cx="10795524" cy="969169"/>
          </a:xfrm>
          <a:prstGeom prst="roundRect">
            <a:avLst>
              <a:gd name="adj" fmla="val 2161"/>
            </a:avLst>
          </a:prstGeom>
          <a:solidFill>
            <a:srgbClr val="F3E7D4"/>
          </a:solidFill>
          <a:ln/>
        </p:spPr>
      </p:sp>
      <p:sp>
        <p:nvSpPr>
          <p:cNvPr id="17" name="Shape 15"/>
          <p:cNvSpPr/>
          <p:nvPr/>
        </p:nvSpPr>
        <p:spPr>
          <a:xfrm>
            <a:off x="698086" y="4816177"/>
            <a:ext cx="5397762" cy="484584"/>
          </a:xfrm>
          <a:custGeom>
            <a:avLst/>
            <a:gdLst/>
            <a:ahLst/>
            <a:cxnLst/>
            <a:rect l="l" t="t" r="r" b="b"/>
            <a:pathLst>
              <a:path w="5397762" h="484584">
                <a:moveTo>
                  <a:pt x="17454" y="0"/>
                </a:moveTo>
                <a:lnTo>
                  <a:pt x="5397762" y="0"/>
                </a:lnTo>
                <a:lnTo>
                  <a:pt x="5397762" y="484584"/>
                </a:lnTo>
                <a:lnTo>
                  <a:pt x="0" y="484584"/>
                </a:lnTo>
                <a:lnTo>
                  <a:pt x="0" y="17455"/>
                </a:lnTo>
                <a:arcTo wR="17454" hR="17455" stAng="10800000" swAng="5400000"/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18" name="Text 16"/>
          <p:cNvSpPr/>
          <p:nvPr/>
        </p:nvSpPr>
        <p:spPr>
          <a:xfrm>
            <a:off x="837683" y="4955778"/>
            <a:ext cx="511856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Unified Workflows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95848" y="4816177"/>
            <a:ext cx="5397762" cy="484584"/>
          </a:xfrm>
          <a:custGeom>
            <a:avLst/>
            <a:gdLst/>
            <a:ahLst/>
            <a:cxnLst/>
            <a:rect l="l" t="t" r="r" b="b"/>
            <a:pathLst>
              <a:path w="5397762" h="484584">
                <a:moveTo>
                  <a:pt x="0" y="0"/>
                </a:moveTo>
                <a:lnTo>
                  <a:pt x="5380307" y="0"/>
                </a:lnTo>
                <a:arcTo wR="17454" hR="17455" stAng="16200000" swAng="5400000"/>
                <a:lnTo>
                  <a:pt x="5397762" y="484584"/>
                </a:lnTo>
                <a:lnTo>
                  <a:pt x="0" y="484584"/>
                </a:lnTo>
                <a:lnTo>
                  <a:pt x="0" y="0"/>
                </a:lnTo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48" y="4816177"/>
            <a:ext cx="19050" cy="484584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21" name="Text 19"/>
          <p:cNvSpPr/>
          <p:nvPr/>
        </p:nvSpPr>
        <p:spPr>
          <a:xfrm>
            <a:off x="6235445" y="4955778"/>
            <a:ext cx="511856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Operations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8086" y="5300762"/>
            <a:ext cx="5397762" cy="484584"/>
          </a:xfrm>
          <a:custGeom>
            <a:avLst/>
            <a:gdLst/>
            <a:ahLst/>
            <a:cxnLst/>
            <a:rect l="l" t="t" r="r" b="b"/>
            <a:pathLst>
              <a:path w="5397762" h="484584">
                <a:moveTo>
                  <a:pt x="0" y="0"/>
                </a:moveTo>
                <a:lnTo>
                  <a:pt x="5397762" y="0"/>
                </a:lnTo>
                <a:lnTo>
                  <a:pt x="5397762" y="484584"/>
                </a:lnTo>
                <a:lnTo>
                  <a:pt x="17454" y="484584"/>
                </a:lnTo>
                <a:arcTo wR="17454" hR="17455" stAng="5400000" swAng="5400000"/>
                <a:lnTo>
                  <a:pt x="0" y="0"/>
                </a:lnTo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23" name="Shape 21"/>
          <p:cNvSpPr/>
          <p:nvPr/>
        </p:nvSpPr>
        <p:spPr>
          <a:xfrm>
            <a:off x="698086" y="5300762"/>
            <a:ext cx="5397762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24" name="Text 22"/>
          <p:cNvSpPr/>
          <p:nvPr/>
        </p:nvSpPr>
        <p:spPr>
          <a:xfrm>
            <a:off x="837683" y="5440363"/>
            <a:ext cx="511856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Assistance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95848" y="5300762"/>
            <a:ext cx="5397762" cy="484584"/>
          </a:xfrm>
          <a:custGeom>
            <a:avLst/>
            <a:gdLst/>
            <a:ahLst/>
            <a:cxnLst/>
            <a:rect l="l" t="t" r="r" b="b"/>
            <a:pathLst>
              <a:path w="5397762" h="484584">
                <a:moveTo>
                  <a:pt x="0" y="0"/>
                </a:moveTo>
                <a:lnTo>
                  <a:pt x="5397762" y="0"/>
                </a:lnTo>
                <a:lnTo>
                  <a:pt x="5397762" y="467129"/>
                </a:lnTo>
                <a:arcTo wR="17454" hR="17455" stAng="0" swAng="5400000"/>
                <a:lnTo>
                  <a:pt x="0" y="484584"/>
                </a:lnTo>
                <a:lnTo>
                  <a:pt x="0" y="0"/>
                </a:lnTo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5300762"/>
            <a:ext cx="19050" cy="484584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5300762"/>
            <a:ext cx="5397762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28" name="Text 26"/>
          <p:cNvSpPr/>
          <p:nvPr/>
        </p:nvSpPr>
        <p:spPr>
          <a:xfrm>
            <a:off x="6235445" y="5440363"/>
            <a:ext cx="511856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Secure Multi-Tenancy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93293" y="5895280"/>
            <a:ext cx="1140510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complete hospital operating system built for the modern healthcare era.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9423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Future of Hospital Intelligence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083148" y="1470620"/>
            <a:ext cx="25399" cy="3449637"/>
          </a:xfrm>
          <a:prstGeom prst="roundRect">
            <a:avLst>
              <a:gd name="adj" fmla="val 50001"/>
            </a:avLst>
          </a:prstGeom>
          <a:solidFill>
            <a:srgbClr val="D9CDBA"/>
          </a:solidFill>
          <a:ln/>
        </p:spPr>
      </p:sp>
      <p:sp>
        <p:nvSpPr>
          <p:cNvPr id="4" name="Shape 2"/>
          <p:cNvSpPr/>
          <p:nvPr/>
        </p:nvSpPr>
        <p:spPr>
          <a:xfrm>
            <a:off x="5380746" y="1659830"/>
            <a:ext cx="538546" cy="2540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5" name="Shape 3"/>
          <p:cNvSpPr/>
          <p:nvPr/>
        </p:nvSpPr>
        <p:spPr>
          <a:xfrm>
            <a:off x="5893893" y="1470620"/>
            <a:ext cx="403909" cy="403920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6" name="Text 4"/>
          <p:cNvSpPr/>
          <p:nvPr/>
        </p:nvSpPr>
        <p:spPr>
          <a:xfrm>
            <a:off x="5969099" y="1514128"/>
            <a:ext cx="253398" cy="316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98086" y="1532334"/>
            <a:ext cx="450015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Now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98086" y="1893292"/>
            <a:ext cx="4500152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Complete Hospital OS · 16 AI capabilities · Real-time operations across all departments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2403" y="2701032"/>
            <a:ext cx="538546" cy="2540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0" name="Shape 8"/>
          <p:cNvSpPr/>
          <p:nvPr/>
        </p:nvSpPr>
        <p:spPr>
          <a:xfrm>
            <a:off x="5893893" y="2511822"/>
            <a:ext cx="403909" cy="403920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11" name="Text 9"/>
          <p:cNvSpPr/>
          <p:nvPr/>
        </p:nvSpPr>
        <p:spPr>
          <a:xfrm>
            <a:off x="5969099" y="2555329"/>
            <a:ext cx="253398" cy="316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993457" y="2573536"/>
            <a:ext cx="450015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Next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993457" y="2934494"/>
            <a:ext cx="4500152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Mobile application · FHIR / HL7 interoperability standards for cross-system integration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80746" y="3611563"/>
            <a:ext cx="538546" cy="2540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5" name="Shape 13"/>
          <p:cNvSpPr/>
          <p:nvPr/>
        </p:nvSpPr>
        <p:spPr>
          <a:xfrm>
            <a:off x="5893893" y="3422352"/>
            <a:ext cx="403909" cy="403920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16" name="Text 14"/>
          <p:cNvSpPr/>
          <p:nvPr/>
        </p:nvSpPr>
        <p:spPr>
          <a:xfrm>
            <a:off x="5969099" y="3465860"/>
            <a:ext cx="253398" cy="316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98086" y="3484066"/>
            <a:ext cx="450015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98086" y="3845024"/>
            <a:ext cx="4500152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Fine-tuned medical models · Predictive ICU deterioration alerts · Autonomous clinical workflows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8086" y="5146873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3A3630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98086" y="5459413"/>
            <a:ext cx="10795524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93293" y="5965726"/>
            <a:ext cx="11405108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400" i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577</Words>
  <Application>Microsoft Office PowerPoint</Application>
  <PresentationFormat>Widescreen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Source Sans 3 Bold</vt:lpstr>
      <vt:lpstr>Calibri</vt:lpstr>
      <vt:lpstr>Lora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2</cp:revision>
  <dcterms:created xsi:type="dcterms:W3CDTF">2026-09-08T00:02:05Z</dcterms:created>
  <dcterms:modified xsi:type="dcterms:W3CDTF">2026-09-08T00:04:32Z</dcterms:modified>
</cp:coreProperties>
</file>